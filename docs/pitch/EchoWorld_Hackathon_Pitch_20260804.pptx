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开场：每一次相遇，都是宇宙中的一次奇迹。我们想做的不是虚无缥缈的元宇宙，而是把黑客松现场的一张合照、一句交谈和一份信任，留在一个可以继续生长的相遇世界里。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痛点不是用户不会加微信，而是相遇没有被转成可继续的关系。黑客松 48 小时里，大家聊过很多事情，最后也许只留下一张合照。我们要把那张合照从相册里的终点，变成共同世界的起点。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产品最有现场感的入口不是单人录入，而是一张大合照。系统先识别一群人，再由每个人确认自己，互写第一印象，最后一起进入共享空间。这样即使两个人只聊了两句，也能拥有共同的数字起点。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一张合照驱动的共享世界闭环：先拍照，确认每个人，再写第一印象，一起进入世界，最后各自带走自己的关系世界。外在数据记录现场，内在数据记录身体与状态的变化；系统只对外提供聚合后的信号视图，避免把生理信号误读成喜欢或关系质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现场演示走四步：上传一张合照并识别人脸；每个人确认身份、写下一条第一印象；进入共享市集和篝火广场；最后看播报和关系场域。强调：哪怕两个人只聊了两句，仍然可以在同一个世界里拥有下一次相遇。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一群人入场后，需要的不再是六个独立聊天框，而是一个共同世界。市集让人围绕项目发生关系，咖啡厅承载人与人的交流，关系场域表达我与 TA 的共同历史。环境本身就是社交内容和交互入口。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系统当前同时接外在和内在数据。外在是照片、声音与场景；内在是以人物为单位的生理聚合信号。原始连续样本不进入前端，心率变化只表达生理唤起，不等同于喜欢或关系质量。Agent 只能提出意图，确定性服务执行状态变化。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当前工作区验证：前端生产构建通过，后端 203 个测试通过、1 个跳过。五人合照的识别、确认和批量入场已经跑通；外在数据、生理聚合、资料包、市集、圆桌、播报和现场房间都在同一条产品路径上。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与通讯录相比，我们不是把人排成列表；与聊天 Agent 相比，我们不是纯线上开始；与社会模拟相比，每个 Agent 都对应真实的人和真实相遇。合照让整组拥有共同起点，外在与内在数据让每个人拥有不同的数字回响。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切入点不是泛社交，而是黑客松和展会。一张合照让整组同时进入共享世界，破冰和互动继续产生数据；活动结束后，每个人带走自己的关系世界，新的联系和下一场活动让世界继续生长。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收尾：每一次相遇，都是宇宙中的一次奇迹。我们不是创造虚假的关系，而是让黑客松的一张合照、一句交谈、一次心跳的变化，进入一个能继续生长的关系世界。让相遇不止于相遇，让每一场奇迹都有续章。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内部备用页，不主动展示。演示失败时不要排查网络，直接切回第 5 页讲合照入场流程，再用第 8 页证明工程完成度。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内部备用页。面对隐私、AI 幻觉和完成度追问，强调当前已有合照入场与外在/内在数据链路；同时讲清楚，生理信号只表示唤起程度，不是情感或医疗结论。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510528"/>
            <a:ext cx="11183112" cy="0"/>
          </a:xfrm>
          <a:prstGeom prst="line">
            <a:avLst/>
          </a:prstGeom>
          <a:noFill/>
          <a:ln w="8890">
            <a:solidFill>
              <a:srgbClr val="2A3851">
                <a:alpha val="6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56539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6F7B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ECHOWORLD · HACKATHON PITCH</a:t>
            </a:r>
            <a:endParaRPr lang="en-US" sz="5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choWorld 小镇关系世界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3168" y="0"/>
            <a:ext cx="74157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754880" y="0"/>
            <a:ext cx="2011680" cy="6858000"/>
          </a:xfrm>
          <a:prstGeom prst="rect">
            <a:avLst/>
          </a:prstGeom>
          <a:solidFill>
            <a:srgbClr val="0A1020">
              <a:alpha val="72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5120" y="0"/>
            <a:ext cx="5513832" cy="6858000"/>
          </a:xfrm>
          <a:prstGeom prst="rect">
            <a:avLst/>
          </a:prstGeom>
          <a:solidFill>
            <a:srgbClr val="0A1020">
              <a:alpha val="26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792" y="566928"/>
            <a:ext cx="2432304" cy="292608"/>
          </a:xfrm>
          <a:prstGeom prst="roundRect">
            <a:avLst>
              <a:gd name="adj" fmla="val 50000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4944" y="5760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PHYSICAL AI HACKATHON 2026</a:t>
            </a:r>
            <a:endParaRPr lang="en-US" sz="74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207008"/>
            <a:ext cx="43159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EchoWorld</a:t>
            </a:r>
            <a:endParaRPr lang="en-US" sz="41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984248"/>
            <a:ext cx="4754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每一次相遇，</a:t>
            </a:r>
            <a:endParaRPr lang="en-US" sz="2400" dirty="0"/>
          </a:p>
          <a:p>
            <a:pPr algn="l" indent="0" marL="0">
              <a:buNone/>
            </a:pPr>
            <a:r>
              <a:rPr lang="en-US" sz="24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都是宇宙中的一次奇迹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236976"/>
            <a:ext cx="4160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相遇世界 Encounter World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把真实相遇封装成 Agent，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让每一场奇迹都有续章。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4096512"/>
            <a:ext cx="3383280" cy="0"/>
          </a:xfrm>
          <a:prstGeom prst="line">
            <a:avLst/>
          </a:prstGeom>
          <a:noFill/>
          <a:ln w="30480">
            <a:solidFill>
              <a:srgbClr val="FF7964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 txBox="1"/>
          <p:nvPr/>
        </p:nvSpPr>
        <p:spPr>
          <a:xfrm>
            <a:off x="640080" y="44988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一张合照  →  一群 Agent  →  一个共同世界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61539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F7B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 WORLD · 2026.08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· THE MOMENT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我们轻易加上一个人，却很容易弄丢一个人。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相遇的光亮只留住一瞬；比赛结束后，关系需要一个可以继续存在的地方。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51F33"/>
          </a:solidFill>
          <a:ln w="10160">
            <a:solidFill>
              <a:srgbClr val="F5BE55">
                <a:alpha val="4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14884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41832" y="21579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609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黑客松的灯光下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18104"/>
            <a:ext cx="2889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和极客聊架构，和创业者聊产品，和队友分享凌晨的披萨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069080" y="2926080"/>
            <a:ext cx="329184" cy="0"/>
          </a:xfrm>
          <a:prstGeom prst="line">
            <a:avLst/>
          </a:prstGeom>
          <a:noFill/>
          <a:ln w="2286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62272" y="192024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51F33"/>
          </a:solidFill>
          <a:ln w="10160">
            <a:solidFill>
              <a:srgbClr val="FF7964">
                <a:alpha val="4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90872" y="214884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4024" y="21579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690872" y="26609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比赛结束以后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690872" y="3118104"/>
            <a:ext cx="2889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合照留在相册，微信沉入列表，脸和声音渐渐对不上号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91272" y="2926080"/>
            <a:ext cx="329184" cy="0"/>
          </a:xfrm>
          <a:prstGeom prst="line">
            <a:avLst/>
          </a:prstGeom>
          <a:noFill/>
          <a:ln w="2286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284464" y="1920240"/>
            <a:ext cx="3401568" cy="2011680"/>
          </a:xfrm>
          <a:prstGeom prst="roundRect">
            <a:avLst>
              <a:gd name="adj" fmla="val 5455"/>
            </a:avLst>
          </a:prstGeom>
          <a:solidFill>
            <a:srgbClr val="151F33"/>
          </a:solidFill>
          <a:ln w="10160">
            <a:solidFill>
              <a:srgbClr val="5FE1C0">
                <a:alpha val="4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13064" y="2148840"/>
            <a:ext cx="475488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86216" y="21579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8513064" y="266090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本来可以继续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13064" y="3118104"/>
            <a:ext cx="28895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不是没有价值，而是缺一个让一群人的相遇继续发生的世界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4370832"/>
            <a:ext cx="6492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一张合照，不应该只是相册里的终点。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" y="4919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它可以成为一群人的共同起点。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464040" y="4297680"/>
            <a:ext cx="2057400" cy="1124712"/>
          </a:xfrm>
          <a:prstGeom prst="roundRect">
            <a:avLst>
              <a:gd name="adj" fmla="val 13008"/>
            </a:avLst>
          </a:prstGeom>
          <a:solidFill>
            <a:srgbClr val="462521">
              <a:alpha val="92000"/>
            </a:srgbClr>
          </a:solidFill>
          <a:ln w="10160">
            <a:solidFill>
              <a:srgbClr val="FF7964">
                <a:alpha val="52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74352" y="44622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相册里的合照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573768" y="4837176"/>
            <a:ext cx="1856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能不能成为共同世界？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· GROUP COLD START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一张大合照，让一群人的相遇拥有共同的起点。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不是把每个人塞进通讯录，而是把这场相遇变成一个共享世界。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847088"/>
            <a:ext cx="4443984" cy="3584448"/>
          </a:xfrm>
          <a:prstGeom prst="roundRect">
            <a:avLst>
              <a:gd name="adj" fmla="val 3061"/>
            </a:avLst>
          </a:prstGeom>
          <a:solidFill>
            <a:srgbClr val="151F33"/>
          </a:solidFill>
          <a:ln w="10160">
            <a:solidFill>
              <a:srgbClr val="FF7964">
                <a:alpha val="60000"/>
              </a:srgbClr>
            </a:solidFill>
            <a:prstDash val="solid"/>
          </a:ln>
        </p:spPr>
      </p:sp>
      <p:pic>
        <p:nvPicPr>
          <p:cNvPr id="6" name="Image 0" descr="黑客松现场团队合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13232" y="1938528"/>
            <a:ext cx="4261104" cy="261518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96112" y="4828032"/>
            <a:ext cx="969264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69264" y="4837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黑客松现场</a:t>
            </a:r>
            <a:endParaRPr lang="en-US" sz="710" dirty="0"/>
          </a:p>
        </p:txBody>
      </p:sp>
      <p:sp>
        <p:nvSpPr>
          <p:cNvPr id="9" name="Text 6"/>
          <p:cNvSpPr txBox="1"/>
          <p:nvPr/>
        </p:nvSpPr>
        <p:spPr>
          <a:xfrm>
            <a:off x="1993392" y="4791456"/>
            <a:ext cx="2770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一张照片里，藏着一群人的关系入口。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12080" y="3584448"/>
            <a:ext cx="621792" cy="0"/>
          </a:xfrm>
          <a:prstGeom prst="line">
            <a:avLst/>
          </a:prstGeom>
          <a:noFill/>
          <a:ln w="30480">
            <a:solidFill>
              <a:srgbClr val="5FE1C0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035040" y="1847088"/>
            <a:ext cx="5468112" cy="3584448"/>
          </a:xfrm>
          <a:prstGeom prst="roundRect">
            <a:avLst>
              <a:gd name="adj" fmla="val 3061"/>
            </a:avLst>
          </a:prstGeom>
          <a:solidFill>
            <a:srgbClr val="1B2940"/>
          </a:solidFill>
          <a:ln w="13970">
            <a:solidFill>
              <a:srgbClr val="5FE1C0">
                <a:alpha val="7200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27648" y="2148840"/>
            <a:ext cx="457200" cy="256032"/>
          </a:xfrm>
          <a:prstGeom prst="roundRect">
            <a:avLst>
              <a:gd name="adj" fmla="val 57143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0" y="2157984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00" dirty="0"/>
          </a:p>
        </p:txBody>
      </p:sp>
      <p:sp>
        <p:nvSpPr>
          <p:cNvPr id="14" name="Text 11"/>
          <p:cNvSpPr txBox="1"/>
          <p:nvPr/>
        </p:nvSpPr>
        <p:spPr>
          <a:xfrm>
            <a:off x="7004304" y="2139696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识别一群人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13969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从合照里找到每一张脸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6327648" y="2852928"/>
            <a:ext cx="457200" cy="256032"/>
          </a:xfrm>
          <a:prstGeom prst="roundRect">
            <a:avLst>
              <a:gd name="adj" fmla="val 57143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0" y="2862072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00" dirty="0"/>
          </a:p>
        </p:txBody>
      </p:sp>
      <p:sp>
        <p:nvSpPr>
          <p:cNvPr id="18" name="Text 15"/>
          <p:cNvSpPr txBox="1"/>
          <p:nvPr/>
        </p:nvSpPr>
        <p:spPr>
          <a:xfrm>
            <a:off x="7004304" y="2843784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每个人确认自己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2843784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姓名、身份、头像与授权边界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327648" y="3557016"/>
            <a:ext cx="457200" cy="256032"/>
          </a:xfrm>
          <a:prstGeom prst="roundRect">
            <a:avLst>
              <a:gd name="adj" fmla="val 57143"/>
            </a:avLst>
          </a:prstGeom>
          <a:solidFill>
            <a:srgbClr val="1B315A"/>
          </a:solidFill>
          <a:ln w="12700">
            <a:solidFill>
              <a:srgbClr val="1B315A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0" y="3566160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79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00" dirty="0"/>
          </a:p>
        </p:txBody>
      </p:sp>
      <p:sp>
        <p:nvSpPr>
          <p:cNvPr id="22" name="Text 19"/>
          <p:cNvSpPr txBox="1"/>
          <p:nvPr/>
        </p:nvSpPr>
        <p:spPr>
          <a:xfrm>
            <a:off x="7004304" y="3547872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写下第一印象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8503920" y="3547872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自评一条 + 同伴互评一条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6327648" y="4261104"/>
            <a:ext cx="457200" cy="256032"/>
          </a:xfrm>
          <a:prstGeom prst="roundRect">
            <a:avLst>
              <a:gd name="adj" fmla="val 57143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00800" y="4270248"/>
            <a:ext cx="3108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7004304" y="4251960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进入同一个世界</a:t>
            </a:r>
            <a:endParaRPr lang="en-US" sz="1050" dirty="0"/>
          </a:p>
        </p:txBody>
      </p:sp>
      <p:sp>
        <p:nvSpPr>
          <p:cNvPr id="27" name="Text 24"/>
          <p:cNvSpPr txBox="1"/>
          <p:nvPr/>
        </p:nvSpPr>
        <p:spPr>
          <a:xfrm>
            <a:off x="8503920" y="4251960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体素 Agent、共享市集、破冰与圆桌</a:t>
            </a:r>
            <a:endParaRPr lang="en-US" sz="860" dirty="0"/>
          </a:p>
        </p:txBody>
      </p:sp>
      <p:sp>
        <p:nvSpPr>
          <p:cNvPr id="28" name="Text 25"/>
          <p:cNvSpPr txBox="1"/>
          <p:nvPr/>
        </p:nvSpPr>
        <p:spPr>
          <a:xfrm>
            <a:off x="6327648" y="5047488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群体相遇先共享，离场之后再各自生长。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· SHARED WORLD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从一张合照，到一群人的关系世界。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共同照片是入口；每个人带着自己的外在与内在信号，继续长出不同的数字回响。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258568" y="2752344"/>
            <a:ext cx="621792" cy="0"/>
          </a:xfrm>
          <a:prstGeom prst="line">
            <a:avLst/>
          </a:prstGeom>
          <a:noFill/>
          <a:ln w="2032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94360" y="2011680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151F33"/>
          </a:solidFill>
          <a:ln w="10160">
            <a:solidFill>
              <a:srgbClr val="FF7964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2286000"/>
            <a:ext cx="530352" cy="530352"/>
          </a:xfrm>
          <a:prstGeom prst="ellipse">
            <a:avLst/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70432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</a:t>
            </a:r>
            <a:endParaRPr lang="en-US" sz="928" dirty="0"/>
          </a:p>
        </p:txBody>
      </p:sp>
      <p:sp>
        <p:nvSpPr>
          <p:cNvPr id="9" name="Text 7"/>
          <p:cNvSpPr txBox="1"/>
          <p:nvPr/>
        </p:nvSpPr>
        <p:spPr>
          <a:xfrm>
            <a:off x="740664" y="29900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拍下合照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34670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一张照片，整组进入</a:t>
            </a:r>
            <a:endParaRPr lang="en-US" sz="790" dirty="0"/>
          </a:p>
        </p:txBody>
      </p:sp>
      <p:sp>
        <p:nvSpPr>
          <p:cNvPr id="11" name="Shape 9"/>
          <p:cNvSpPr/>
          <p:nvPr/>
        </p:nvSpPr>
        <p:spPr>
          <a:xfrm>
            <a:off x="4562856" y="2752344"/>
            <a:ext cx="621792" cy="0"/>
          </a:xfrm>
          <a:prstGeom prst="line">
            <a:avLst/>
          </a:prstGeom>
          <a:noFill/>
          <a:ln w="2032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98648" y="2011680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151F33"/>
          </a:solidFill>
          <a:ln w="10160">
            <a:solidFill>
              <a:srgbClr val="F5BE55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2286000"/>
            <a:ext cx="530352" cy="530352"/>
          </a:xfrm>
          <a:prstGeom prst="ellipse">
            <a:avLst/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74720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</a:t>
            </a:r>
            <a:endParaRPr lang="en-US" sz="928" dirty="0"/>
          </a:p>
        </p:txBody>
      </p:sp>
      <p:sp>
        <p:nvSpPr>
          <p:cNvPr id="15" name="Text 13"/>
          <p:cNvSpPr txBox="1"/>
          <p:nvPr/>
        </p:nvSpPr>
        <p:spPr>
          <a:xfrm>
            <a:off x="3044952" y="29900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确认身份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17520" y="334670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每个人确认自己的脸</a:t>
            </a:r>
            <a:endParaRPr lang="en-US" sz="790" dirty="0"/>
          </a:p>
        </p:txBody>
      </p:sp>
      <p:sp>
        <p:nvSpPr>
          <p:cNvPr id="17" name="Shape 15"/>
          <p:cNvSpPr/>
          <p:nvPr/>
        </p:nvSpPr>
        <p:spPr>
          <a:xfrm>
            <a:off x="6867144" y="2752344"/>
            <a:ext cx="621792" cy="0"/>
          </a:xfrm>
          <a:prstGeom prst="line">
            <a:avLst/>
          </a:prstGeom>
          <a:noFill/>
          <a:ln w="2032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02936" y="2011680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151F33"/>
          </a:solidFill>
          <a:ln w="10160">
            <a:solidFill>
              <a:srgbClr val="79A7FF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79008" y="2286000"/>
            <a:ext cx="530352" cy="530352"/>
          </a:xfrm>
          <a:prstGeom prst="ellipse">
            <a:avLst/>
          </a:prstGeom>
          <a:solidFill>
            <a:srgbClr val="1B315A"/>
          </a:solidFill>
          <a:ln w="12700">
            <a:solidFill>
              <a:srgbClr val="1B315A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79008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79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endParaRPr lang="en-US" sz="928" dirty="0"/>
          </a:p>
        </p:txBody>
      </p:sp>
      <p:sp>
        <p:nvSpPr>
          <p:cNvPr id="21" name="Text 19"/>
          <p:cNvSpPr txBox="1"/>
          <p:nvPr/>
        </p:nvSpPr>
        <p:spPr>
          <a:xfrm>
            <a:off x="5349240" y="29900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写第一印象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21808" y="334670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自评 + 同伴互评</a:t>
            </a:r>
            <a:endParaRPr lang="en-US" sz="790" dirty="0"/>
          </a:p>
        </p:txBody>
      </p:sp>
      <p:sp>
        <p:nvSpPr>
          <p:cNvPr id="23" name="Shape 21"/>
          <p:cNvSpPr/>
          <p:nvPr/>
        </p:nvSpPr>
        <p:spPr>
          <a:xfrm>
            <a:off x="9171432" y="2752344"/>
            <a:ext cx="621792" cy="0"/>
          </a:xfrm>
          <a:prstGeom prst="line">
            <a:avLst/>
          </a:prstGeom>
          <a:noFill/>
          <a:ln w="2032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507224" y="2011680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151F33"/>
          </a:solidFill>
          <a:ln w="10160">
            <a:solidFill>
              <a:srgbClr val="5FE1C0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83296" y="2286000"/>
            <a:ext cx="530352" cy="530352"/>
          </a:xfrm>
          <a:prstGeom prst="ellipse">
            <a:avLst/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083296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</a:t>
            </a:r>
            <a:endParaRPr lang="en-US" sz="928" dirty="0"/>
          </a:p>
        </p:txBody>
      </p:sp>
      <p:sp>
        <p:nvSpPr>
          <p:cNvPr id="27" name="Text 25"/>
          <p:cNvSpPr txBox="1"/>
          <p:nvPr/>
        </p:nvSpPr>
        <p:spPr>
          <a:xfrm>
            <a:off x="7653528" y="29900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进入共享世界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626096" y="334670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市集 / 围炉 / 破冰</a:t>
            </a:r>
            <a:endParaRPr lang="en-US" sz="790" dirty="0"/>
          </a:p>
        </p:txBody>
      </p:sp>
      <p:sp>
        <p:nvSpPr>
          <p:cNvPr id="29" name="Shape 27"/>
          <p:cNvSpPr/>
          <p:nvPr/>
        </p:nvSpPr>
        <p:spPr>
          <a:xfrm>
            <a:off x="9811512" y="2011680"/>
            <a:ext cx="1691640" cy="1783080"/>
          </a:xfrm>
          <a:prstGeom prst="roundRect">
            <a:avLst>
              <a:gd name="adj" fmla="val 6486"/>
            </a:avLst>
          </a:prstGeom>
          <a:solidFill>
            <a:srgbClr val="151F33"/>
          </a:solidFill>
          <a:ln w="10160">
            <a:solidFill>
              <a:srgbClr val="65D38E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87584" y="2286000"/>
            <a:ext cx="530352" cy="530352"/>
          </a:xfrm>
          <a:prstGeom prst="ellipse">
            <a:avLst/>
          </a:prstGeom>
          <a:solidFill>
            <a:srgbClr val="183928"/>
          </a:solidFill>
          <a:ln w="12700">
            <a:solidFill>
              <a:srgbClr val="183928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87584" y="22860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8" b="1" dirty="0">
                <a:solidFill>
                  <a:srgbClr val="65D38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</a:t>
            </a:r>
            <a:endParaRPr lang="en-US" sz="928" dirty="0"/>
          </a:p>
        </p:txBody>
      </p:sp>
      <p:sp>
        <p:nvSpPr>
          <p:cNvPr id="32" name="Text 30"/>
          <p:cNvSpPr txBox="1"/>
          <p:nvPr/>
        </p:nvSpPr>
        <p:spPr>
          <a:xfrm>
            <a:off x="9957816" y="2990088"/>
            <a:ext cx="1399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各自带走世界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930384" y="3346704"/>
            <a:ext cx="1453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9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关系继续生长</a:t>
            </a:r>
            <a:endParaRPr lang="en-US" sz="790" dirty="0"/>
          </a:p>
        </p:txBody>
      </p:sp>
      <p:sp>
        <p:nvSpPr>
          <p:cNvPr id="34" name="Shape 32"/>
          <p:cNvSpPr/>
          <p:nvPr/>
        </p:nvSpPr>
        <p:spPr>
          <a:xfrm>
            <a:off x="603504" y="4279392"/>
            <a:ext cx="5312664" cy="1042416"/>
          </a:xfrm>
          <a:prstGeom prst="roundRect">
            <a:avLst>
              <a:gd name="adj" fmla="val 10526"/>
            </a:avLst>
          </a:prstGeom>
          <a:solidFill>
            <a:srgbClr val="131B2A"/>
          </a:solidFill>
          <a:ln w="10160">
            <a:solidFill>
              <a:srgbClr val="F5BE55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41248" y="449884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45079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外在数据</a:t>
            </a:r>
            <a:endParaRPr lang="en-US" sz="760" dirty="0"/>
          </a:p>
        </p:txBody>
      </p:sp>
      <p:sp>
        <p:nvSpPr>
          <p:cNvPr id="37" name="Text 35"/>
          <p:cNvSpPr txBox="1"/>
          <p:nvPr/>
        </p:nvSpPr>
        <p:spPr>
          <a:xfrm>
            <a:off x="1901952" y="4453128"/>
            <a:ext cx="3611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· 音频 · 场景 · 对话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1901952" y="4800600"/>
            <a:ext cx="3712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记录我们看见的世界，以及相遇发生的现场。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6263640" y="4279392"/>
            <a:ext cx="5312664" cy="1042416"/>
          </a:xfrm>
          <a:prstGeom prst="roundRect">
            <a:avLst>
              <a:gd name="adj" fmla="val 10526"/>
            </a:avLst>
          </a:prstGeom>
          <a:solidFill>
            <a:srgbClr val="131B2A"/>
          </a:solidFill>
          <a:ln w="10160">
            <a:solidFill>
              <a:srgbClr val="5FE1C0">
                <a:alpha val="4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510528" y="4498848"/>
            <a:ext cx="896112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583680" y="4507992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内在数据</a:t>
            </a:r>
            <a:endParaRPr lang="en-US" sz="740" dirty="0"/>
          </a:p>
        </p:txBody>
      </p:sp>
      <p:sp>
        <p:nvSpPr>
          <p:cNvPr id="42" name="Text 40"/>
          <p:cNvSpPr txBox="1"/>
          <p:nvPr/>
        </p:nvSpPr>
        <p:spPr>
          <a:xfrm>
            <a:off x="7571232" y="4453128"/>
            <a:ext cx="37124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 · 呼吸 · 生理唤起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7571232" y="48006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前端只消费聚合视图，不把原始连续样本暴露给世界。</a:t>
            </a:r>
            <a:endParaRPr lang="en-US" sz="870" dirty="0"/>
          </a:p>
        </p:txBody>
      </p:sp>
      <p:sp>
        <p:nvSpPr>
          <p:cNvPr id="44" name="Text 42"/>
          <p:cNvSpPr txBox="1"/>
          <p:nvPr/>
        </p:nvSpPr>
        <p:spPr>
          <a:xfrm>
            <a:off x="1280160" y="5687568"/>
            <a:ext cx="9646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共同照片是入口；每个人的数字回响，才是关系世界的生命力。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· LIVE DEMO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90 秒：从一张合照到一个共享世界。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先一起入场，再在同一个世界里破冰、围炉，最后把关系带回每个人的世界。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773936"/>
            <a:ext cx="2441448" cy="3995928"/>
          </a:xfrm>
          <a:prstGeom prst="roundRect">
            <a:avLst>
              <a:gd name="adj" fmla="val 4494"/>
            </a:avLst>
          </a:prstGeom>
          <a:solidFill>
            <a:srgbClr val="151F33"/>
          </a:solidFill>
          <a:ln w="10160">
            <a:solidFill>
              <a:srgbClr val="2A3851">
                <a:alpha val="80000"/>
              </a:srgbClr>
            </a:solidFill>
            <a:prstDash val="solid"/>
          </a:ln>
        </p:spPr>
      </p:sp>
      <p:pic>
        <p:nvPicPr>
          <p:cNvPr id="6" name="Image 0" descr="一张合照，识别一群人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" y="1828800"/>
            <a:ext cx="2331720" cy="24323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4416552"/>
            <a:ext cx="310896" cy="31089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4411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243584" y="437083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一张合照，识别一群人</a:t>
            </a:r>
            <a:endParaRPr lang="en-US" sz="114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46320"/>
            <a:ext cx="2039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共同现场 · 共同起点</a:t>
            </a:r>
            <a:endParaRPr lang="en-US" sz="870" dirty="0"/>
          </a:p>
        </p:txBody>
      </p:sp>
      <p:sp>
        <p:nvSpPr>
          <p:cNvPr id="11" name="Shape 8"/>
          <p:cNvSpPr/>
          <p:nvPr/>
        </p:nvSpPr>
        <p:spPr>
          <a:xfrm>
            <a:off x="3246120" y="1773936"/>
            <a:ext cx="2651760" cy="3995928"/>
          </a:xfrm>
          <a:prstGeom prst="roundRect">
            <a:avLst>
              <a:gd name="adj" fmla="val 4138"/>
            </a:avLst>
          </a:prstGeom>
          <a:solidFill>
            <a:srgbClr val="151F33"/>
          </a:solidFill>
          <a:ln w="10160">
            <a:solidFill>
              <a:srgbClr val="2A3851">
                <a:alpha val="80000"/>
              </a:srgbClr>
            </a:solidFill>
            <a:prstDash val="solid"/>
          </a:ln>
        </p:spPr>
      </p:sp>
      <p:pic>
        <p:nvPicPr>
          <p:cNvPr id="12" name="Image 1" descr="每个人确认自己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300984" y="1828800"/>
            <a:ext cx="2542032" cy="24323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47288" y="4416552"/>
            <a:ext cx="310896" cy="310896"/>
          </a:xfrm>
          <a:prstGeom prst="ellipse">
            <a:avLst/>
          </a:prstGeom>
          <a:solidFill>
            <a:srgbClr val="F5BE55"/>
          </a:solidFill>
          <a:ln w="12700">
            <a:solidFill>
              <a:srgbClr val="F5BE55">
                <a:alpha val="0"/>
              </a:srgbClr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447288" y="4411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1"/>
          <p:cNvSpPr txBox="1"/>
          <p:nvPr/>
        </p:nvSpPr>
        <p:spPr>
          <a:xfrm>
            <a:off x="3867912" y="437083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每个人确认自己</a:t>
            </a:r>
            <a:endParaRPr lang="en-US" sz="1140" dirty="0"/>
          </a:p>
        </p:txBody>
      </p:sp>
      <p:sp>
        <p:nvSpPr>
          <p:cNvPr id="16" name="Text 12"/>
          <p:cNvSpPr txBox="1"/>
          <p:nvPr/>
        </p:nvSpPr>
        <p:spPr>
          <a:xfrm>
            <a:off x="3447288" y="4846320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 · 第一印象 · Package</a:t>
            </a:r>
            <a:endParaRPr lang="en-US" sz="870" dirty="0"/>
          </a:p>
        </p:txBody>
      </p:sp>
      <p:sp>
        <p:nvSpPr>
          <p:cNvPr id="17" name="Shape 13"/>
          <p:cNvSpPr/>
          <p:nvPr/>
        </p:nvSpPr>
        <p:spPr>
          <a:xfrm>
            <a:off x="6080760" y="1773936"/>
            <a:ext cx="2651760" cy="3995928"/>
          </a:xfrm>
          <a:prstGeom prst="roundRect">
            <a:avLst>
              <a:gd name="adj" fmla="val 4138"/>
            </a:avLst>
          </a:prstGeom>
          <a:solidFill>
            <a:srgbClr val="151F33"/>
          </a:solidFill>
          <a:ln w="10160">
            <a:solidFill>
              <a:srgbClr val="2A3851">
                <a:alpha val="80000"/>
              </a:srgbClr>
            </a:solidFill>
            <a:prstDash val="solid"/>
          </a:ln>
        </p:spPr>
      </p:sp>
      <p:pic>
        <p:nvPicPr>
          <p:cNvPr id="18" name="Image 2" descr="Agent 进入共享世界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135624" y="1828800"/>
            <a:ext cx="2542032" cy="243230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281928" y="4416552"/>
            <a:ext cx="310896" cy="310896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6281928" y="4411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6702552" y="437083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进入共享世界</a:t>
            </a:r>
            <a:endParaRPr lang="en-US" sz="1140" dirty="0"/>
          </a:p>
        </p:txBody>
      </p:sp>
      <p:sp>
        <p:nvSpPr>
          <p:cNvPr id="22" name="Text 17"/>
          <p:cNvSpPr txBox="1"/>
          <p:nvPr/>
        </p:nvSpPr>
        <p:spPr>
          <a:xfrm>
            <a:off x="6281928" y="4846320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移动、围炉、联机互动</a:t>
            </a:r>
            <a:endParaRPr lang="en-US" sz="870" dirty="0"/>
          </a:p>
        </p:txBody>
      </p:sp>
      <p:sp>
        <p:nvSpPr>
          <p:cNvPr id="23" name="Shape 18"/>
          <p:cNvSpPr/>
          <p:nvPr/>
        </p:nvSpPr>
        <p:spPr>
          <a:xfrm>
            <a:off x="8915400" y="1773936"/>
            <a:ext cx="2651760" cy="3995928"/>
          </a:xfrm>
          <a:prstGeom prst="roundRect">
            <a:avLst>
              <a:gd name="adj" fmla="val 4138"/>
            </a:avLst>
          </a:prstGeom>
          <a:solidFill>
            <a:srgbClr val="151F33"/>
          </a:solidFill>
          <a:ln w="10160">
            <a:solidFill>
              <a:srgbClr val="2A3851">
                <a:alpha val="80000"/>
              </a:srgbClr>
            </a:solidFill>
            <a:prstDash val="solid"/>
          </a:ln>
        </p:spPr>
      </p:sp>
      <p:pic>
        <p:nvPicPr>
          <p:cNvPr id="24" name="Image 3" descr="把世界带回每个人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970264" y="1828800"/>
            <a:ext cx="2542032" cy="243230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116568" y="4416552"/>
            <a:ext cx="310896" cy="31089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116568" y="44119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9537192" y="4370832"/>
            <a:ext cx="1856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把世界带回每个人</a:t>
            </a:r>
            <a:endParaRPr lang="en-US" sz="1140" dirty="0"/>
          </a:p>
        </p:txBody>
      </p:sp>
      <p:sp>
        <p:nvSpPr>
          <p:cNvPr id="28" name="Text 22"/>
          <p:cNvSpPr txBox="1"/>
          <p:nvPr/>
        </p:nvSpPr>
        <p:spPr>
          <a:xfrm>
            <a:off x="9116568" y="4846320"/>
            <a:ext cx="22494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播报、关系场域、下一次行动</a:t>
            </a:r>
            <a:endParaRPr lang="en-US" sz="870" dirty="0"/>
          </a:p>
        </p:txBody>
      </p:sp>
      <p:sp>
        <p:nvSpPr>
          <p:cNvPr id="29" name="Shape 23"/>
          <p:cNvSpPr/>
          <p:nvPr/>
        </p:nvSpPr>
        <p:spPr>
          <a:xfrm>
            <a:off x="658368" y="5925312"/>
            <a:ext cx="1225296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31520" y="5934456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DEMO 关键时刻</a:t>
            </a:r>
            <a:endParaRPr lang="en-US" sz="720" dirty="0"/>
          </a:p>
        </p:txBody>
      </p:sp>
      <p:sp>
        <p:nvSpPr>
          <p:cNvPr id="31" name="Text 25"/>
          <p:cNvSpPr txBox="1"/>
          <p:nvPr/>
        </p:nvSpPr>
        <p:spPr>
          <a:xfrm>
            <a:off x="2039112" y="5870448"/>
            <a:ext cx="8915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即使两个人只聊过两句，也能在同一个世界里拥有下一次相遇。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· WHY 3D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共同相遇，需要一个共同的世界。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不是包装：空间决定 Agent 为什么相遇、围绕什么交流，以及关系如何被看见。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3246120" cy="3419856"/>
          </a:xfrm>
          <a:prstGeom prst="roundRect">
            <a:avLst>
              <a:gd name="adj" fmla="val 3380"/>
            </a:avLst>
          </a:prstGeom>
          <a:solidFill>
            <a:srgbClr val="151F33"/>
          </a:solidFill>
          <a:ln w="10160">
            <a:solidFill>
              <a:srgbClr val="FF7964">
                <a:alpha val="58000"/>
              </a:srgbClr>
            </a:solidFill>
            <a:prstDash val="solid"/>
          </a:ln>
        </p:spPr>
      </p:sp>
      <p:pic>
        <p:nvPicPr>
          <p:cNvPr id="6" name="Image 0" descr="市集 Bazaar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892808"/>
            <a:ext cx="3118104" cy="15727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41248" y="3675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市集 Bazaar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51176" y="3694176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624328" y="370332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↔ 课题 ↔ 人</a:t>
            </a:r>
            <a:endParaRPr lang="en-US" sz="68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418795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用展位、作品和项目做陌生人破冰的媒介。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160520" y="1828800"/>
            <a:ext cx="3246120" cy="3419856"/>
          </a:xfrm>
          <a:prstGeom prst="roundRect">
            <a:avLst>
              <a:gd name="adj" fmla="val 3380"/>
            </a:avLst>
          </a:prstGeom>
          <a:solidFill>
            <a:srgbClr val="151F33"/>
          </a:solidFill>
          <a:ln w="10160">
            <a:solidFill>
              <a:srgbClr val="F5BE55">
                <a:alpha val="58000"/>
              </a:srgbClr>
            </a:solidFill>
            <a:prstDash val="solid"/>
          </a:ln>
        </p:spPr>
      </p:sp>
      <p:pic>
        <p:nvPicPr>
          <p:cNvPr id="12" name="Image 1" descr="咖啡厅 Caf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24528" y="1892808"/>
            <a:ext cx="3118104" cy="15727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79976" y="3675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咖啡厅 Cafe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089904" y="3694176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163056" y="370332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 ↔ 人</a:t>
            </a:r>
            <a:endParaRPr lang="en-US" sz="680" dirty="0"/>
          </a:p>
        </p:txBody>
      </p:sp>
      <p:sp>
        <p:nvSpPr>
          <p:cNvPr id="16" name="Text 12"/>
          <p:cNvSpPr txBox="1"/>
          <p:nvPr/>
        </p:nvSpPr>
        <p:spPr>
          <a:xfrm>
            <a:off x="4379976" y="418795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熟人进入一对一、小范围交流与圆桌会议。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99248" y="1828800"/>
            <a:ext cx="3246120" cy="3419856"/>
          </a:xfrm>
          <a:prstGeom prst="roundRect">
            <a:avLst>
              <a:gd name="adj" fmla="val 3380"/>
            </a:avLst>
          </a:prstGeom>
          <a:solidFill>
            <a:srgbClr val="151F33"/>
          </a:solidFill>
          <a:ln w="10160">
            <a:solidFill>
              <a:srgbClr val="5FE1C0">
                <a:alpha val="58000"/>
              </a:srgbClr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763256" y="1892808"/>
            <a:ext cx="3118104" cy="1572768"/>
          </a:xfrm>
          <a:prstGeom prst="roundRect">
            <a:avLst>
              <a:gd name="adj" fmla="val 5814"/>
            </a:avLst>
          </a:prstGeom>
          <a:solidFill>
            <a:srgbClr val="153B39">
              <a:alpha val="86000"/>
            </a:srgbClr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10728" y="2907792"/>
            <a:ext cx="2395728" cy="-566928"/>
          </a:xfrm>
          <a:prstGeom prst="line">
            <a:avLst/>
          </a:prstGeom>
          <a:noFill/>
          <a:ln w="15240">
            <a:solidFill>
              <a:srgbClr val="5FE1C0"/>
            </a:solidFill>
            <a:prstDash val="solid"/>
            <a:headEnd type="none"/>
            <a:tailEnd type="none"/>
          </a:ln>
        </p:spPr>
      </p:sp>
      <p:sp>
        <p:nvSpPr>
          <p:cNvPr id="20" name="Shape 16"/>
          <p:cNvSpPr/>
          <p:nvPr/>
        </p:nvSpPr>
        <p:spPr>
          <a:xfrm>
            <a:off x="8083296" y="2816352"/>
            <a:ext cx="256032" cy="256032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0277856" y="2167128"/>
            <a:ext cx="310896" cy="31089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9006840" y="2286000"/>
            <a:ext cx="192024" cy="192024"/>
          </a:xfrm>
          <a:prstGeom prst="ellipse">
            <a:avLst/>
          </a:prstGeom>
          <a:solidFill>
            <a:srgbClr val="F5BE55"/>
          </a:solidFill>
          <a:ln w="12700">
            <a:solidFill>
              <a:srgbClr val="F5BE55">
                <a:alpha val="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9528048" y="2798064"/>
            <a:ext cx="164592" cy="164592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8732520" y="1901952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共同事件</a:t>
            </a:r>
            <a:endParaRPr lang="en-US" sz="700" dirty="0"/>
          </a:p>
        </p:txBody>
      </p:sp>
      <p:sp>
        <p:nvSpPr>
          <p:cNvPr id="25" name="Text 21"/>
          <p:cNvSpPr txBox="1"/>
          <p:nvPr/>
        </p:nvSpPr>
        <p:spPr>
          <a:xfrm>
            <a:off x="8092440" y="28163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</a:t>
            </a:r>
            <a:endParaRPr lang="en-US" sz="700" dirty="0"/>
          </a:p>
        </p:txBody>
      </p:sp>
      <p:sp>
        <p:nvSpPr>
          <p:cNvPr id="26" name="Text 22"/>
          <p:cNvSpPr txBox="1"/>
          <p:nvPr/>
        </p:nvSpPr>
        <p:spPr>
          <a:xfrm>
            <a:off x="10277856" y="219456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A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</a:t>
            </a:r>
            <a:endParaRPr lang="en-US" sz="700" dirty="0"/>
          </a:p>
        </p:txBody>
      </p:sp>
      <p:sp>
        <p:nvSpPr>
          <p:cNvPr id="27" name="Text 23"/>
          <p:cNvSpPr txBox="1"/>
          <p:nvPr/>
        </p:nvSpPr>
        <p:spPr>
          <a:xfrm>
            <a:off x="7918704" y="367588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关系场域 Field</a:t>
            </a:r>
            <a:endParaRPr lang="en-US" sz="1500" dirty="0"/>
          </a:p>
        </p:txBody>
      </p:sp>
      <p:sp>
        <p:nvSpPr>
          <p:cNvPr id="28" name="Shape 24"/>
          <p:cNvSpPr/>
          <p:nvPr/>
        </p:nvSpPr>
        <p:spPr>
          <a:xfrm>
            <a:off x="9628632" y="3694176"/>
            <a:ext cx="1069848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9701784" y="3703320"/>
            <a:ext cx="923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 ↔ TA</a:t>
            </a:r>
            <a:endParaRPr lang="en-US" sz="680" dirty="0"/>
          </a:p>
        </p:txBody>
      </p:sp>
      <p:sp>
        <p:nvSpPr>
          <p:cNvPr id="30" name="Text 26"/>
          <p:cNvSpPr txBox="1"/>
          <p:nvPr/>
        </p:nvSpPr>
        <p:spPr>
          <a:xfrm>
            <a:off x="7918704" y="4187952"/>
            <a:ext cx="27889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共同事件与印象被艺术化为“我与 TA 的关系空间”。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658368" y="5577840"/>
            <a:ext cx="5166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环境既是社交内容，也是交互媒介。</a:t>
            </a:r>
            <a:endParaRPr lang="en-US" sz="2000" dirty="0"/>
          </a:p>
        </p:txBody>
      </p:sp>
      <p:sp>
        <p:nvSpPr>
          <p:cNvPr id="32" name="Text 28"/>
          <p:cNvSpPr txBox="1"/>
          <p:nvPr/>
        </p:nvSpPr>
        <p:spPr>
          <a:xfrm>
            <a:off x="6080760" y="5614416"/>
            <a:ext cx="54132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 EchoWorld 与“把聊天框搬进 3D”之间的区别。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· TECHNOLOGY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外在与内在信号，共同进入可信的事件系统。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视觉、音频与生理聚合形成相遇数据；Agent 提出意图，确定性服务维护世界状态。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3200400" cy="3145536"/>
          </a:xfrm>
          <a:prstGeom prst="roundRect">
            <a:avLst>
              <a:gd name="adj" fmla="val 3488"/>
            </a:avLst>
          </a:prstGeom>
          <a:solidFill>
            <a:srgbClr val="151F33"/>
          </a:solidFill>
          <a:ln w="10160">
            <a:solidFill>
              <a:srgbClr val="FF7964">
                <a:alpha val="6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121408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多模态相遇</a:t>
            </a:r>
            <a:endParaRPr lang="en-US" sz="780" dirty="0"/>
          </a:p>
        </p:txBody>
      </p:sp>
      <p:sp>
        <p:nvSpPr>
          <p:cNvPr id="8" name="Shape 6"/>
          <p:cNvSpPr/>
          <p:nvPr/>
        </p:nvSpPr>
        <p:spPr>
          <a:xfrm>
            <a:off x="886968" y="277977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926080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98448" y="28163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 / 音频 / 场景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886968" y="342900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1560" y="3575304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34655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心率等生理聚合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886968" y="4078224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4224528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98448" y="41148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Person + Group Package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3858768" y="3401568"/>
            <a:ext cx="402336" cy="0"/>
          </a:xfrm>
          <a:prstGeom prst="line">
            <a:avLst/>
          </a:prstGeom>
          <a:noFill/>
          <a:ln w="2540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297680" y="1874520"/>
            <a:ext cx="3200400" cy="3145536"/>
          </a:xfrm>
          <a:prstGeom prst="roundRect">
            <a:avLst>
              <a:gd name="adj" fmla="val 3488"/>
            </a:avLst>
          </a:prstGeom>
          <a:solidFill>
            <a:srgbClr val="151F33"/>
          </a:solidFill>
          <a:ln w="10160">
            <a:solidFill>
              <a:srgbClr val="5FE1C0">
                <a:alpha val="6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26280" y="2121408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99432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与世界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526280" y="277977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926080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28163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 Onboarding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4526280" y="342900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90872" y="3575304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37760" y="34655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Intent + Policy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4526280" y="4078224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90872" y="4224528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937760" y="41148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Service / Event Store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7498080" y="3401568"/>
            <a:ext cx="402336" cy="0"/>
          </a:xfrm>
          <a:prstGeom prst="line">
            <a:avLst/>
          </a:prstGeom>
          <a:noFill/>
          <a:ln w="2540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936992" y="1874520"/>
            <a:ext cx="3200400" cy="3145536"/>
          </a:xfrm>
          <a:prstGeom prst="roundRect">
            <a:avLst>
              <a:gd name="adj" fmla="val 3488"/>
            </a:avLst>
          </a:prstGeom>
          <a:solidFill>
            <a:srgbClr val="151F33"/>
          </a:solidFill>
          <a:ln w="10160">
            <a:solidFill>
              <a:srgbClr val="79A7FF">
                <a:alpha val="62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65592" y="2121408"/>
            <a:ext cx="1335024" cy="292608"/>
          </a:xfrm>
          <a:prstGeom prst="roundRect">
            <a:avLst>
              <a:gd name="adj" fmla="val 50000"/>
            </a:avLst>
          </a:prstGeom>
          <a:solidFill>
            <a:srgbClr val="1B315A"/>
          </a:solidFill>
          <a:ln w="12700">
            <a:solidFill>
              <a:srgbClr val="1B315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38744" y="21305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79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 与交互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8165592" y="2779776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30184" y="2926080"/>
            <a:ext cx="128016" cy="128016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577072" y="2816352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World Snapshot</a:t>
            </a:r>
            <a:endParaRPr lang="en-US" sz="970" dirty="0"/>
          </a:p>
        </p:txBody>
      </p:sp>
      <p:sp>
        <p:nvSpPr>
          <p:cNvPr id="37" name="Shape 35"/>
          <p:cNvSpPr/>
          <p:nvPr/>
        </p:nvSpPr>
        <p:spPr>
          <a:xfrm>
            <a:off x="8165592" y="3429000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330184" y="3575304"/>
            <a:ext cx="128016" cy="128016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77072" y="3465576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Runtime</a:t>
            </a:r>
            <a:endParaRPr lang="en-US" sz="970" dirty="0"/>
          </a:p>
        </p:txBody>
      </p:sp>
      <p:sp>
        <p:nvSpPr>
          <p:cNvPr id="40" name="Shape 38"/>
          <p:cNvSpPr/>
          <p:nvPr/>
        </p:nvSpPr>
        <p:spPr>
          <a:xfrm>
            <a:off x="8165592" y="4078224"/>
            <a:ext cx="2743200" cy="438912"/>
          </a:xfrm>
          <a:prstGeom prst="roundRect">
            <a:avLst>
              <a:gd name="adj" fmla="val 16667"/>
            </a:avLst>
          </a:prstGeom>
          <a:solidFill>
            <a:srgbClr val="10182A">
              <a:alpha val="96000"/>
            </a:srgbClr>
          </a:solidFill>
          <a:ln w="7620">
            <a:solidFill>
              <a:srgbClr val="2A3851">
                <a:alpha val="52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30184" y="4224528"/>
            <a:ext cx="128016" cy="128016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577072" y="4114800"/>
            <a:ext cx="21305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市集 / 咖啡厅 / 场域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658368" y="5340096"/>
            <a:ext cx="10991088" cy="658368"/>
          </a:xfrm>
          <a:prstGeom prst="roundRect">
            <a:avLst>
              <a:gd name="adj" fmla="val 16667"/>
            </a:avLst>
          </a:prstGeom>
          <a:solidFill>
            <a:srgbClr val="111A2B"/>
          </a:solidFill>
          <a:ln w="10160">
            <a:solidFill>
              <a:srgbClr val="2A3851">
                <a:alpha val="64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96112" y="5577840"/>
            <a:ext cx="118872" cy="118872"/>
          </a:xfrm>
          <a:prstGeom prst="ellipse">
            <a:avLst/>
          </a:prstGeom>
          <a:solidFill>
            <a:srgbClr val="F5BE55"/>
          </a:solidFill>
          <a:ln w="12700">
            <a:solidFill>
              <a:srgbClr val="F5BE55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97280" y="547725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外在事实只增不改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547872" y="5577840"/>
            <a:ext cx="118872" cy="118872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3749040" y="547725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生理信号只给聚合视图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437376" y="5577840"/>
            <a:ext cx="118872" cy="118872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638544" y="547725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快照是前端唯一数据源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9226296" y="5577840"/>
            <a:ext cx="118872" cy="118872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27464" y="5477256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后端不可用自动降级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· PROOF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我们已经把关键闭环跑起来了。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这不是概念视频：源码可构建，后端契约有自动化测试，现场路径可直接演示。 </a:t>
            </a:r>
            <a:endParaRPr lang="en-US" sz="1150" dirty="0"/>
          </a:p>
        </p:txBody>
      </p:sp>
      <p:pic>
        <p:nvPicPr>
          <p:cNvPr id="5" name="Image 0" descr="EchoWorld 六个 Agent 的现场画面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56232"/>
            <a:ext cx="5852160" cy="33101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4498848"/>
            <a:ext cx="5852160" cy="667512"/>
          </a:xfrm>
          <a:prstGeom prst="rect">
            <a:avLst/>
          </a:prstGeom>
          <a:solidFill>
            <a:srgbClr val="0A1020">
              <a:alpha val="86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68680" y="46634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真实运行画面 · 6 个 Agent 同场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812280" y="1856232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151F33"/>
          </a:solidFill>
          <a:ln w="10160">
            <a:solidFill>
              <a:srgbClr val="5FE1C0">
                <a:alpha val="55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95160" y="20025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203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6995160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后端测试通过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skipped</a:t>
            </a:r>
            <a:endParaRPr lang="en-US" sz="730" dirty="0"/>
          </a:p>
        </p:txBody>
      </p:sp>
      <p:sp>
        <p:nvSpPr>
          <p:cNvPr id="12" name="Shape 9"/>
          <p:cNvSpPr/>
          <p:nvPr/>
        </p:nvSpPr>
        <p:spPr>
          <a:xfrm>
            <a:off x="9244584" y="1856232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151F33"/>
          </a:solidFill>
          <a:ln w="10160">
            <a:solidFill>
              <a:srgbClr val="FF7964">
                <a:alpha val="5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427464" y="200253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427464" y="247802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人合照实测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9427464" y="278892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 → 确认 → 入场</a:t>
            </a:r>
            <a:endParaRPr lang="en-US" sz="730" dirty="0"/>
          </a:p>
        </p:txBody>
      </p:sp>
      <p:sp>
        <p:nvSpPr>
          <p:cNvPr id="16" name="Shape 13"/>
          <p:cNvSpPr/>
          <p:nvPr/>
        </p:nvSpPr>
        <p:spPr>
          <a:xfrm>
            <a:off x="6812280" y="338328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151F33"/>
          </a:solidFill>
          <a:ln w="10160">
            <a:solidFill>
              <a:srgbClr val="F5BE55">
                <a:alpha val="5500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95160" y="35295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类相遇信号</a:t>
            </a:r>
            <a:endParaRPr lang="en-US" sz="950" dirty="0"/>
          </a:p>
        </p:txBody>
      </p:sp>
      <p:sp>
        <p:nvSpPr>
          <p:cNvPr id="19" name="Text 16"/>
          <p:cNvSpPr txBox="1"/>
          <p:nvPr/>
        </p:nvSpPr>
        <p:spPr>
          <a:xfrm>
            <a:off x="6995160" y="43159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外在数据 + 内在数据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9244584" y="3383280"/>
            <a:ext cx="2103120" cy="1280160"/>
          </a:xfrm>
          <a:prstGeom prst="roundRect">
            <a:avLst>
              <a:gd name="adj" fmla="val 8571"/>
            </a:avLst>
          </a:prstGeom>
          <a:solidFill>
            <a:srgbClr val="151F33"/>
          </a:solidFill>
          <a:ln w="10160">
            <a:solidFill>
              <a:srgbClr val="79A7FF">
                <a:alpha val="55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427464" y="352958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79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LIVE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427464" y="40050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公网 Demo</a:t>
            </a:r>
            <a:endParaRPr lang="en-US" sz="950" dirty="0"/>
          </a:p>
        </p:txBody>
      </p:sp>
      <p:sp>
        <p:nvSpPr>
          <p:cNvPr id="23" name="Text 20"/>
          <p:cNvSpPr txBox="1"/>
          <p:nvPr/>
        </p:nvSpPr>
        <p:spPr>
          <a:xfrm>
            <a:off x="9427464" y="43159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手机 / 桌面可访问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658368" y="5559552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5568696"/>
            <a:ext cx="539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已贯通</a:t>
            </a:r>
            <a:endParaRPr lang="en-US" sz="720" dirty="0"/>
          </a:p>
        </p:txBody>
      </p:sp>
      <p:sp>
        <p:nvSpPr>
          <p:cNvPr id="26" name="Text 23"/>
          <p:cNvSpPr txBox="1"/>
          <p:nvPr/>
        </p:nvSpPr>
        <p:spPr>
          <a:xfrm>
            <a:off x="1517904" y="5513832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合照入场 · 生理聚合 · 展位 · 圆桌 · 播报 · 第一印象 · 破冰数据回流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· DIFFERENCE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我们不创造虚拟关系，我们延续真实相遇。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线下先见过、整组一起入场、多模态信号可追溯，构成相遇世界的信任起点。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7452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1B2940"/>
          </a:solidFill>
          <a:ln w="8255">
            <a:solidFill>
              <a:srgbClr val="2A3851">
                <a:alpha val="8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4767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产品形态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32888" y="1874520"/>
            <a:ext cx="2212848" cy="566928"/>
          </a:xfrm>
          <a:prstGeom prst="rect">
            <a:avLst/>
          </a:prstGeom>
          <a:solidFill>
            <a:srgbClr val="1B2940"/>
          </a:solidFill>
          <a:ln w="8255">
            <a:solidFill>
              <a:srgbClr val="2A3851">
                <a:alpha val="8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947672"/>
            <a:ext cx="2066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上下文来源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45736" y="1874520"/>
            <a:ext cx="2057400" cy="566928"/>
          </a:xfrm>
          <a:prstGeom prst="rect">
            <a:avLst/>
          </a:prstGeom>
          <a:solidFill>
            <a:srgbClr val="1B2940"/>
          </a:solidFill>
          <a:ln w="8255">
            <a:solidFill>
              <a:srgbClr val="2A3851">
                <a:alpha val="8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8888" y="1947672"/>
            <a:ext cx="19110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是否持续行动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803136" y="1874520"/>
            <a:ext cx="2423160" cy="566928"/>
          </a:xfrm>
          <a:prstGeom prst="rect">
            <a:avLst/>
          </a:prstGeom>
          <a:solidFill>
            <a:srgbClr val="1B2940"/>
          </a:solidFill>
          <a:ln w="8255">
            <a:solidFill>
              <a:srgbClr val="2A3851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76288" y="1947672"/>
            <a:ext cx="2276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关系如何表达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226296" y="1874520"/>
            <a:ext cx="2148840" cy="566928"/>
          </a:xfrm>
          <a:prstGeom prst="rect">
            <a:avLst/>
          </a:prstGeom>
          <a:solidFill>
            <a:srgbClr val="1B2940"/>
          </a:solidFill>
          <a:ln w="8255">
            <a:solidFill>
              <a:srgbClr val="2A3851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9448" y="1947672"/>
            <a:ext cx="2002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信任冷启动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58368" y="2441448"/>
            <a:ext cx="187452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532888"/>
            <a:ext cx="1728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通讯录 / CRM</a:t>
            </a:r>
            <a:endParaRPr lang="en-US" sz="910" dirty="0"/>
          </a:p>
        </p:txBody>
      </p:sp>
      <p:sp>
        <p:nvSpPr>
          <p:cNvPr id="17" name="Shape 15"/>
          <p:cNvSpPr/>
          <p:nvPr/>
        </p:nvSpPr>
        <p:spPr>
          <a:xfrm>
            <a:off x="2532888" y="2441448"/>
            <a:ext cx="2212848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606040" y="2532888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手工字段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4745736" y="2441448"/>
            <a:ext cx="205740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18888" y="2532888"/>
            <a:ext cx="1911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910" dirty="0"/>
          </a:p>
        </p:txBody>
      </p:sp>
      <p:sp>
        <p:nvSpPr>
          <p:cNvPr id="21" name="Shape 19"/>
          <p:cNvSpPr/>
          <p:nvPr/>
        </p:nvSpPr>
        <p:spPr>
          <a:xfrm>
            <a:off x="6803136" y="2441448"/>
            <a:ext cx="242316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76288" y="2532888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列表与标签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9226296" y="2441448"/>
            <a:ext cx="214884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299448" y="2532888"/>
            <a:ext cx="2002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</a:t>
            </a:r>
            <a:endParaRPr lang="en-US" sz="910" dirty="0"/>
          </a:p>
        </p:txBody>
      </p:sp>
      <p:sp>
        <p:nvSpPr>
          <p:cNvPr id="25" name="Shape 23"/>
          <p:cNvSpPr/>
          <p:nvPr/>
        </p:nvSpPr>
        <p:spPr>
          <a:xfrm>
            <a:off x="658368" y="3154680"/>
            <a:ext cx="1874520" cy="713232"/>
          </a:xfrm>
          <a:prstGeom prst="rect">
            <a:avLst/>
          </a:prstGeom>
          <a:solidFill>
            <a:srgbClr val="1119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3246120"/>
            <a:ext cx="1728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聊天 Agent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2532888" y="3154680"/>
            <a:ext cx="2212848" cy="713232"/>
          </a:xfrm>
          <a:prstGeom prst="rect">
            <a:avLst/>
          </a:prstGeom>
          <a:solidFill>
            <a:srgbClr val="1119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606040" y="3246120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对话窗口</a:t>
            </a:r>
            <a:endParaRPr lang="en-US" sz="910" dirty="0"/>
          </a:p>
        </p:txBody>
      </p:sp>
      <p:sp>
        <p:nvSpPr>
          <p:cNvPr id="29" name="Shape 27"/>
          <p:cNvSpPr/>
          <p:nvPr/>
        </p:nvSpPr>
        <p:spPr>
          <a:xfrm>
            <a:off x="4745736" y="3154680"/>
            <a:ext cx="2057400" cy="713232"/>
          </a:xfrm>
          <a:prstGeom prst="rect">
            <a:avLst/>
          </a:prstGeom>
          <a:solidFill>
            <a:srgbClr val="1119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18888" y="3246120"/>
            <a:ext cx="1911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6803136" y="3154680"/>
            <a:ext cx="2423160" cy="713232"/>
          </a:xfrm>
          <a:prstGeom prst="rect">
            <a:avLst/>
          </a:prstGeom>
          <a:solidFill>
            <a:srgbClr val="1119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76288" y="3246120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会话记录</a:t>
            </a:r>
            <a:endParaRPr lang="en-US" sz="910" dirty="0"/>
          </a:p>
        </p:txBody>
      </p:sp>
      <p:sp>
        <p:nvSpPr>
          <p:cNvPr id="33" name="Shape 31"/>
          <p:cNvSpPr/>
          <p:nvPr/>
        </p:nvSpPr>
        <p:spPr>
          <a:xfrm>
            <a:off x="9226296" y="3154680"/>
            <a:ext cx="2148840" cy="713232"/>
          </a:xfrm>
          <a:prstGeom prst="rect">
            <a:avLst/>
          </a:prstGeom>
          <a:solidFill>
            <a:srgbClr val="1119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299448" y="3246120"/>
            <a:ext cx="2002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纯线上</a:t>
            </a:r>
            <a:endParaRPr lang="en-US" sz="910" dirty="0"/>
          </a:p>
        </p:txBody>
      </p:sp>
      <p:sp>
        <p:nvSpPr>
          <p:cNvPr id="35" name="Shape 33"/>
          <p:cNvSpPr/>
          <p:nvPr/>
        </p:nvSpPr>
        <p:spPr>
          <a:xfrm>
            <a:off x="658368" y="3867912"/>
            <a:ext cx="187452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31520" y="3959352"/>
            <a:ext cx="1728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社会模拟</a:t>
            </a:r>
            <a:endParaRPr lang="en-US" sz="910" dirty="0"/>
          </a:p>
        </p:txBody>
      </p:sp>
      <p:sp>
        <p:nvSpPr>
          <p:cNvPr id="37" name="Shape 35"/>
          <p:cNvSpPr/>
          <p:nvPr/>
        </p:nvSpPr>
        <p:spPr>
          <a:xfrm>
            <a:off x="2532888" y="3867912"/>
            <a:ext cx="2212848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3959352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预设角色</a:t>
            </a:r>
            <a:endParaRPr lang="en-US" sz="910" dirty="0"/>
          </a:p>
        </p:txBody>
      </p:sp>
      <p:sp>
        <p:nvSpPr>
          <p:cNvPr id="39" name="Shape 37"/>
          <p:cNvSpPr/>
          <p:nvPr/>
        </p:nvSpPr>
        <p:spPr>
          <a:xfrm>
            <a:off x="4745736" y="3867912"/>
            <a:ext cx="205740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818888" y="3959352"/>
            <a:ext cx="1911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6803136" y="3867912"/>
            <a:ext cx="242316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876288" y="3959352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观察模拟</a:t>
            </a:r>
            <a:endParaRPr lang="en-US" sz="910" dirty="0"/>
          </a:p>
        </p:txBody>
      </p:sp>
      <p:sp>
        <p:nvSpPr>
          <p:cNvPr id="43" name="Shape 41"/>
          <p:cNvSpPr/>
          <p:nvPr/>
        </p:nvSpPr>
        <p:spPr>
          <a:xfrm>
            <a:off x="9226296" y="3867912"/>
            <a:ext cx="2148840" cy="713232"/>
          </a:xfrm>
          <a:prstGeom prst="rect">
            <a:avLst/>
          </a:prstGeom>
          <a:solidFill>
            <a:srgbClr val="10182A"/>
          </a:solidFill>
          <a:ln w="8890">
            <a:solidFill>
              <a:srgbClr val="2A3851">
                <a:alpha val="62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99448" y="3959352"/>
            <a:ext cx="2002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1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不对应真人</a:t>
            </a:r>
            <a:endParaRPr lang="en-US" sz="910" dirty="0"/>
          </a:p>
        </p:txBody>
      </p:sp>
      <p:sp>
        <p:nvSpPr>
          <p:cNvPr id="45" name="Shape 43"/>
          <p:cNvSpPr/>
          <p:nvPr/>
        </p:nvSpPr>
        <p:spPr>
          <a:xfrm>
            <a:off x="658368" y="4581144"/>
            <a:ext cx="1874520" cy="713232"/>
          </a:xfrm>
          <a:prstGeom prst="roundRect">
            <a:avLst>
              <a:gd name="adj" fmla="val 12821"/>
            </a:avLst>
          </a:prstGeom>
          <a:solidFill>
            <a:srgbClr val="153B39"/>
          </a:solidFill>
          <a:ln w="8890">
            <a:solidFill>
              <a:srgbClr val="5FE1C0">
                <a:alpha val="42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31520" y="4672584"/>
            <a:ext cx="1728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EchoWorld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2532888" y="4581144"/>
            <a:ext cx="2212848" cy="713232"/>
          </a:xfrm>
          <a:prstGeom prst="rect">
            <a:avLst/>
          </a:prstGeom>
          <a:solidFill>
            <a:srgbClr val="11262C"/>
          </a:solidFill>
          <a:ln w="8890">
            <a:solidFill>
              <a:srgbClr val="5FE1C0">
                <a:alpha val="4200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2606040" y="4672584"/>
            <a:ext cx="2066544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合照 + 多模态相遇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4745736" y="4581144"/>
            <a:ext cx="2057400" cy="713232"/>
          </a:xfrm>
          <a:prstGeom prst="rect">
            <a:avLst/>
          </a:prstGeom>
          <a:solidFill>
            <a:srgbClr val="11262C"/>
          </a:solidFill>
          <a:ln w="8890">
            <a:solidFill>
              <a:srgbClr val="5FE1C0">
                <a:alpha val="4200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818888" y="4672584"/>
            <a:ext cx="191109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+ 事件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6803136" y="4581144"/>
            <a:ext cx="2423160" cy="713232"/>
          </a:xfrm>
          <a:prstGeom prst="rect">
            <a:avLst/>
          </a:prstGeom>
          <a:solidFill>
            <a:srgbClr val="11262C"/>
          </a:solidFill>
          <a:ln w="8890">
            <a:solidFill>
              <a:srgbClr val="5FE1C0">
                <a:alpha val="4200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76288" y="4672584"/>
            <a:ext cx="227685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共享世界 + Package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9226296" y="4581144"/>
            <a:ext cx="2148840" cy="713232"/>
          </a:xfrm>
          <a:prstGeom prst="rect">
            <a:avLst/>
          </a:prstGeom>
          <a:solidFill>
            <a:srgbClr val="11262C"/>
          </a:solidFill>
          <a:ln w="8890">
            <a:solidFill>
              <a:srgbClr val="5FE1C0">
                <a:alpha val="4200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299448" y="4672584"/>
            <a:ext cx="200253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线下整组入场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658368" y="5285232"/>
            <a:ext cx="10972800" cy="621792"/>
          </a:xfrm>
          <a:prstGeom prst="roundRect">
            <a:avLst>
              <a:gd name="adj" fmla="val 17647"/>
            </a:avLst>
          </a:prstGeom>
          <a:solidFill>
            <a:srgbClr val="111A2B"/>
          </a:solidFill>
          <a:ln w="10160">
            <a:solidFill>
              <a:srgbClr val="FF7964">
                <a:alpha val="38000"/>
              </a:srgbClr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32688" y="541324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合照让一群人拥有共同起点；多模态数据保留真实；3D 世界让关系继续被看见和操作。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· GO TO MARKET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一场活动，先生成一个共同世界。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黑客松 / 展会是高密度相遇现场；一张合照就是最低门槛的群体冷启动入口。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395728" y="1892808"/>
            <a:ext cx="3200400" cy="3200400"/>
          </a:xfrm>
          <a:prstGeom prst="ellipse">
            <a:avLst/>
          </a:prstGeom>
          <a:solidFill>
            <a:srgbClr val="151F33"/>
          </a:solidFill>
          <a:ln w="12700">
            <a:solidFill>
              <a:srgbClr val="2A38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01568" y="2898648"/>
            <a:ext cx="1188720" cy="1188720"/>
          </a:xfrm>
          <a:prstGeom prst="ellipse">
            <a:avLst/>
          </a:prstGeom>
          <a:solidFill>
            <a:srgbClr val="153B39"/>
          </a:solidFill>
          <a:ln w="17780">
            <a:solidFill>
              <a:srgbClr val="5FE1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01568" y="2944368"/>
            <a:ext cx="1188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</a:t>
            </a:r>
            <a:endParaRPr lang="en-US" sz="1340" dirty="0"/>
          </a:p>
          <a:p>
            <a:pPr algn="ctr" indent="0" marL="0">
              <a:buNone/>
            </a:pPr>
            <a:r>
              <a:rPr lang="en-US" sz="134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数据飞轮</a:t>
            </a:r>
            <a:endParaRPr lang="en-US" sz="1340" dirty="0"/>
          </a:p>
        </p:txBody>
      </p:sp>
      <p:sp>
        <p:nvSpPr>
          <p:cNvPr id="8" name="Shape 6"/>
          <p:cNvSpPr/>
          <p:nvPr/>
        </p:nvSpPr>
        <p:spPr>
          <a:xfrm>
            <a:off x="3264408" y="1545336"/>
            <a:ext cx="347472" cy="347472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43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一张合照入场</a:t>
            </a:r>
            <a:endParaRPr lang="en-US" sz="810" dirty="0"/>
          </a:p>
        </p:txBody>
      </p:sp>
      <p:sp>
        <p:nvSpPr>
          <p:cNvPr id="10" name="Shape 8"/>
          <p:cNvSpPr/>
          <p:nvPr/>
        </p:nvSpPr>
        <p:spPr>
          <a:xfrm>
            <a:off x="4672584" y="2743200"/>
            <a:ext cx="347472" cy="347472"/>
          </a:xfrm>
          <a:prstGeom prst="ellipse">
            <a:avLst/>
          </a:prstGeom>
          <a:solidFill>
            <a:srgbClr val="F5BE55"/>
          </a:solidFill>
          <a:ln w="12700">
            <a:solidFill>
              <a:srgbClr val="F5BE55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251960" y="318211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互动与信号增长</a:t>
            </a:r>
            <a:endParaRPr lang="en-US" sz="810" dirty="0"/>
          </a:p>
        </p:txBody>
      </p:sp>
      <p:sp>
        <p:nvSpPr>
          <p:cNvPr id="12" name="Shape 10"/>
          <p:cNvSpPr/>
          <p:nvPr/>
        </p:nvSpPr>
        <p:spPr>
          <a:xfrm>
            <a:off x="3346704" y="4489704"/>
            <a:ext cx="347472" cy="347472"/>
          </a:xfrm>
          <a:prstGeom prst="ellipse">
            <a:avLst/>
          </a:prstGeom>
          <a:solidFill>
            <a:srgbClr val="79A7FF"/>
          </a:solidFill>
          <a:ln w="12700">
            <a:solidFill>
              <a:srgbClr val="79A7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49286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各自带走世界</a:t>
            </a:r>
            <a:endParaRPr lang="en-US" sz="810" dirty="0"/>
          </a:p>
        </p:txBody>
      </p:sp>
      <p:sp>
        <p:nvSpPr>
          <p:cNvPr id="14" name="Shape 12"/>
          <p:cNvSpPr/>
          <p:nvPr/>
        </p:nvSpPr>
        <p:spPr>
          <a:xfrm>
            <a:off x="1399032" y="2907792"/>
            <a:ext cx="347472" cy="347472"/>
          </a:xfrm>
          <a:prstGeom prst="ellipse">
            <a:avLst/>
          </a:prstGeom>
          <a:solidFill>
            <a:srgbClr val="65D38E"/>
          </a:solidFill>
          <a:ln w="12700">
            <a:solidFill>
              <a:srgbClr val="65D38E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78408" y="3346704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1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重新联系 / 引荐</a:t>
            </a:r>
            <a:endParaRPr lang="en-US" sz="810" dirty="0"/>
          </a:p>
        </p:txBody>
      </p:sp>
      <p:sp>
        <p:nvSpPr>
          <p:cNvPr id="16" name="Shape 14"/>
          <p:cNvSpPr/>
          <p:nvPr/>
        </p:nvSpPr>
        <p:spPr>
          <a:xfrm>
            <a:off x="4361688" y="1911096"/>
            <a:ext cx="530352" cy="594360"/>
          </a:xfrm>
          <a:prstGeom prst="line">
            <a:avLst/>
          </a:prstGeom>
          <a:noFill/>
          <a:ln w="1524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36592" y="3630168"/>
            <a:ext cx="-594360" cy="649224"/>
          </a:xfrm>
          <a:prstGeom prst="line">
            <a:avLst/>
          </a:prstGeom>
          <a:noFill/>
          <a:ln w="1524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035808" y="4654296"/>
            <a:ext cx="-1005840" cy="-603504"/>
          </a:xfrm>
          <a:prstGeom prst="line">
            <a:avLst/>
          </a:prstGeom>
          <a:noFill/>
          <a:ln w="1524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72768" y="2880360"/>
            <a:ext cx="1353312" cy="-868680"/>
          </a:xfrm>
          <a:prstGeom prst="line">
            <a:avLst/>
          </a:prstGeom>
          <a:noFill/>
          <a:ln w="15240">
            <a:solidFill>
              <a:srgbClr val="6F7B9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583680" y="18562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商业切口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583680" y="2395728"/>
            <a:ext cx="4983480" cy="896112"/>
          </a:xfrm>
          <a:prstGeom prst="roundRect">
            <a:avLst>
              <a:gd name="adj" fmla="val 12245"/>
            </a:avLst>
          </a:prstGeom>
          <a:solidFill>
            <a:srgbClr val="151F33"/>
          </a:solidFill>
          <a:ln w="10160">
            <a:solidFill>
              <a:srgbClr val="FF7964">
                <a:alpha val="46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93992" y="2624328"/>
            <a:ext cx="640080" cy="237744"/>
          </a:xfrm>
          <a:prstGeom prst="roundRect">
            <a:avLst>
              <a:gd name="adj" fmla="val 61538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67144" y="2633472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NOW</a:t>
            </a:r>
            <a:endParaRPr lang="en-US" sz="670" dirty="0"/>
          </a:p>
        </p:txBody>
      </p:sp>
      <p:sp>
        <p:nvSpPr>
          <p:cNvPr id="24" name="Text 22"/>
          <p:cNvSpPr txBox="1"/>
          <p:nvPr/>
        </p:nvSpPr>
        <p:spPr>
          <a:xfrm>
            <a:off x="7626096" y="2523744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活动现场工具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7626096" y="282549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组织方提供合照入场、共享世界和破冰；参会者带走自己的关系世界。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6583680" y="3511296"/>
            <a:ext cx="4983480" cy="896112"/>
          </a:xfrm>
          <a:prstGeom prst="roundRect">
            <a:avLst>
              <a:gd name="adj" fmla="val 12245"/>
            </a:avLst>
          </a:prstGeom>
          <a:solidFill>
            <a:srgbClr val="151F33"/>
          </a:solidFill>
          <a:ln w="10160">
            <a:solidFill>
              <a:srgbClr val="F5BE55">
                <a:alpha val="46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93992" y="3739896"/>
            <a:ext cx="640080" cy="237744"/>
          </a:xfrm>
          <a:prstGeom prst="roundRect">
            <a:avLst>
              <a:gd name="adj" fmla="val 61538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67144" y="3749040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</a:t>
            </a:r>
            <a:endParaRPr lang="en-US" sz="670" dirty="0"/>
          </a:p>
        </p:txBody>
      </p:sp>
      <p:sp>
        <p:nvSpPr>
          <p:cNvPr id="29" name="Text 27"/>
          <p:cNvSpPr txBox="1"/>
          <p:nvPr/>
        </p:nvSpPr>
        <p:spPr>
          <a:xfrm>
            <a:off x="7626096" y="3639312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高频社交个人产品</a:t>
            </a:r>
            <a:endParaRPr lang="en-US" sz="1120" dirty="0"/>
          </a:p>
        </p:txBody>
      </p:sp>
      <p:sp>
        <p:nvSpPr>
          <p:cNvPr id="30" name="Text 28"/>
          <p:cNvSpPr txBox="1"/>
          <p:nvPr/>
        </p:nvSpPr>
        <p:spPr>
          <a:xfrm>
            <a:off x="7626096" y="3941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投资人、创业者、BD 让沉睡的相遇重新浮现并触发行动。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6583680" y="4626864"/>
            <a:ext cx="4983480" cy="896112"/>
          </a:xfrm>
          <a:prstGeom prst="roundRect">
            <a:avLst>
              <a:gd name="adj" fmla="val 12245"/>
            </a:avLst>
          </a:prstGeom>
          <a:solidFill>
            <a:srgbClr val="151F33"/>
          </a:solidFill>
          <a:ln w="10160">
            <a:solidFill>
              <a:srgbClr val="5FE1C0">
                <a:alpha val="46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93992" y="4855464"/>
            <a:ext cx="640080" cy="237744"/>
          </a:xfrm>
          <a:prstGeom prst="roundRect">
            <a:avLst>
              <a:gd name="adj" fmla="val 61538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67144" y="4864608"/>
            <a:ext cx="493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7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LATER</a:t>
            </a:r>
            <a:endParaRPr lang="en-US" sz="670" dirty="0"/>
          </a:p>
        </p:txBody>
      </p:sp>
      <p:sp>
        <p:nvSpPr>
          <p:cNvPr id="34" name="Text 32"/>
          <p:cNvSpPr txBox="1"/>
          <p:nvPr/>
        </p:nvSpPr>
        <p:spPr>
          <a:xfrm>
            <a:off x="7626096" y="4754880"/>
            <a:ext cx="36118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组织关系知识平台</a:t>
            </a:r>
            <a:endParaRPr lang="en-US" sz="1120" dirty="0"/>
          </a:p>
        </p:txBody>
      </p:sp>
      <p:sp>
        <p:nvSpPr>
          <p:cNvPr id="35" name="Text 33"/>
          <p:cNvSpPr txBox="1"/>
          <p:nvPr/>
        </p:nvSpPr>
        <p:spPr>
          <a:xfrm>
            <a:off x="7626096" y="505663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经授权共享客户与合作网络；按活动 / 席位 / 私有化部署收费。</a:t>
            </a:r>
            <a:endParaRPr lang="en-US" sz="7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choWorld 篝火广场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01968" y="0"/>
            <a:ext cx="5586984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7635240" cy="6858000"/>
          </a:xfrm>
          <a:prstGeom prst="rect">
            <a:avLst/>
          </a:prstGeom>
          <a:solidFill>
            <a:srgbClr val="0A1020"/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565392" y="0"/>
            <a:ext cx="1682496" cy="6858000"/>
          </a:xfrm>
          <a:prstGeom prst="rect">
            <a:avLst/>
          </a:prstGeom>
          <a:solidFill>
            <a:srgbClr val="0A1020">
              <a:alpha val="73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0A1020">
              <a:alpha val="28000"/>
            </a:srgbClr>
          </a:solidFill>
          <a:ln w="12700">
            <a:solidFill>
              <a:srgbClr val="0A1020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" y="65836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667512"/>
            <a:ext cx="1088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NEXT STEP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1225296"/>
            <a:ext cx="5468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每一次相遇，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都是宇宙中的一次奇迹。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2468880"/>
            <a:ext cx="580644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一张合照，</a:t>
            </a: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可以让一群人的奇迹拥有续章。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676656" y="4005072"/>
            <a:ext cx="5440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现场能力：合照群体入场 · 外在/内在数据 · 共享关系世界</a:t>
            </a:r>
            <a:endParaRPr lang="en-US" sz="1120" dirty="0"/>
          </a:p>
        </p:txBody>
      </p:sp>
      <p:sp>
        <p:nvSpPr>
          <p:cNvPr id="11" name="Text 8"/>
          <p:cNvSpPr txBox="1"/>
          <p:nvPr/>
        </p:nvSpPr>
        <p:spPr>
          <a:xfrm>
            <a:off x="676656" y="465429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让相遇不止于相遇，让每一场奇迹都有续章。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658368" y="5394960"/>
            <a:ext cx="5468112" cy="694944"/>
          </a:xfrm>
          <a:prstGeom prst="roundRect">
            <a:avLst>
              <a:gd name="adj" fmla="val 15789"/>
            </a:avLst>
          </a:prstGeom>
          <a:solidFill>
            <a:srgbClr val="1B2940">
              <a:alpha val="98000"/>
            </a:srgbClr>
          </a:solidFill>
          <a:ln w="10160">
            <a:solidFill>
              <a:srgbClr val="2A3851">
                <a:alpha val="72000"/>
              </a:srgbClr>
            </a:solidFill>
            <a:prstDash val="solid"/>
          </a:ln>
        </p:spPr>
      </p:sp>
      <p:pic>
        <p:nvPicPr>
          <p:cNvPr id="13" name="Image 1" descr="EchoWorld Demo 二维码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22960" y="5513832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35608" y="5513832"/>
            <a:ext cx="841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现场体验</a:t>
            </a:r>
            <a:endParaRPr lang="en-US" sz="740" dirty="0"/>
          </a:p>
        </p:txBody>
      </p:sp>
      <p:sp>
        <p:nvSpPr>
          <p:cNvPr id="15" name="Text 11"/>
          <p:cNvSpPr txBox="1"/>
          <p:nvPr/>
        </p:nvSpPr>
        <p:spPr>
          <a:xfrm>
            <a:off x="1435608" y="57241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capture.meetmind.online/echoworld/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A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 Demo 操作卡（90 秒）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只走关键价值路径；任何一步网络异常都可切回下一张截图。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7114032" cy="749808"/>
          </a:xfrm>
          <a:prstGeom prst="roundRect">
            <a:avLst>
              <a:gd name="adj" fmla="val 14634"/>
            </a:avLst>
          </a:prstGeom>
          <a:solidFill>
            <a:srgbClr val="151F33"/>
          </a:solidFill>
          <a:ln w="10160">
            <a:solidFill>
              <a:srgbClr val="FF7964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029968"/>
            <a:ext cx="694944" cy="228600"/>
          </a:xfrm>
          <a:prstGeom prst="roundRect">
            <a:avLst>
              <a:gd name="adj" fmla="val 64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9264" y="2039112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0–20s</a:t>
            </a:r>
            <a:endParaRPr lang="en-US" sz="680" dirty="0"/>
          </a:p>
        </p:txBody>
      </p:sp>
      <p:sp>
        <p:nvSpPr>
          <p:cNvPr id="8" name="Text 6"/>
          <p:cNvSpPr txBox="1"/>
          <p:nvPr/>
        </p:nvSpPr>
        <p:spPr>
          <a:xfrm>
            <a:off x="1819656" y="1920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上传一张合照</a:t>
            </a:r>
            <a:endParaRPr lang="en-US" sz="1140" dirty="0"/>
          </a:p>
        </p:txBody>
      </p:sp>
      <p:sp>
        <p:nvSpPr>
          <p:cNvPr id="9" name="Text 7"/>
          <p:cNvSpPr txBox="1"/>
          <p:nvPr/>
        </p:nvSpPr>
        <p:spPr>
          <a:xfrm>
            <a:off x="3511296" y="1920240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系统识别每张脸；强调一张照片让整组拥有共同起点。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58368" y="2779776"/>
            <a:ext cx="7114032" cy="749808"/>
          </a:xfrm>
          <a:prstGeom prst="roundRect">
            <a:avLst>
              <a:gd name="adj" fmla="val 14634"/>
            </a:avLst>
          </a:prstGeom>
          <a:solidFill>
            <a:srgbClr val="151F33"/>
          </a:solidFill>
          <a:ln w="10160">
            <a:solidFill>
              <a:srgbClr val="F5BE55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999232"/>
            <a:ext cx="694944" cy="228600"/>
          </a:xfrm>
          <a:prstGeom prst="roundRect">
            <a:avLst>
              <a:gd name="adj" fmla="val 64000"/>
            </a:avLst>
          </a:prstGeom>
          <a:solidFill>
            <a:srgbClr val="44351D"/>
          </a:solidFill>
          <a:ln w="12700">
            <a:solidFill>
              <a:srgbClr val="44351D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3008376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20–40s</a:t>
            </a:r>
            <a:endParaRPr lang="en-US" sz="680" dirty="0"/>
          </a:p>
        </p:txBody>
      </p:sp>
      <p:sp>
        <p:nvSpPr>
          <p:cNvPr id="13" name="Text 11"/>
          <p:cNvSpPr txBox="1"/>
          <p:nvPr/>
        </p:nvSpPr>
        <p:spPr>
          <a:xfrm>
            <a:off x="1819656" y="28895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确认与互写印象</a:t>
            </a:r>
            <a:endParaRPr lang="en-US" sz="1140" dirty="0"/>
          </a:p>
        </p:txBody>
      </p:sp>
      <p:sp>
        <p:nvSpPr>
          <p:cNvPr id="14" name="Text 12"/>
          <p:cNvSpPr txBox="1"/>
          <p:nvPr/>
        </p:nvSpPr>
        <p:spPr>
          <a:xfrm>
            <a:off x="3511296" y="2889504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每个人确认自己，写一条自评和对同伴的第一印象。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" y="3749040"/>
            <a:ext cx="7114032" cy="749808"/>
          </a:xfrm>
          <a:prstGeom prst="roundRect">
            <a:avLst>
              <a:gd name="adj" fmla="val 14634"/>
            </a:avLst>
          </a:prstGeom>
          <a:solidFill>
            <a:srgbClr val="151F33"/>
          </a:solidFill>
          <a:ln w="10160">
            <a:solidFill>
              <a:srgbClr val="79A7FF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6112" y="3968496"/>
            <a:ext cx="694944" cy="228600"/>
          </a:xfrm>
          <a:prstGeom prst="roundRect">
            <a:avLst>
              <a:gd name="adj" fmla="val 64000"/>
            </a:avLst>
          </a:prstGeom>
          <a:solidFill>
            <a:srgbClr val="1B315A"/>
          </a:solidFill>
          <a:ln w="12700">
            <a:solidFill>
              <a:srgbClr val="1B315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9264" y="3977640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79A7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40–70s</a:t>
            </a:r>
            <a:endParaRPr lang="en-US" sz="680" dirty="0"/>
          </a:p>
        </p:txBody>
      </p:sp>
      <p:sp>
        <p:nvSpPr>
          <p:cNvPr id="18" name="Text 16"/>
          <p:cNvSpPr txBox="1"/>
          <p:nvPr/>
        </p:nvSpPr>
        <p:spPr>
          <a:xfrm>
            <a:off x="1819656" y="38587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进入共享世界</a:t>
            </a:r>
            <a:endParaRPr lang="en-US" sz="1140" dirty="0"/>
          </a:p>
        </p:txBody>
      </p:sp>
      <p:sp>
        <p:nvSpPr>
          <p:cNvPr id="19" name="Text 17"/>
          <p:cNvSpPr txBox="1"/>
          <p:nvPr/>
        </p:nvSpPr>
        <p:spPr>
          <a:xfrm>
            <a:off x="3511296" y="3858768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展示多人 Agent、聚合心率标记、围炉和破冰互动。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" y="4718304"/>
            <a:ext cx="7114032" cy="749808"/>
          </a:xfrm>
          <a:prstGeom prst="roundRect">
            <a:avLst>
              <a:gd name="adj" fmla="val 14634"/>
            </a:avLst>
          </a:prstGeom>
          <a:solidFill>
            <a:srgbClr val="151F33"/>
          </a:solidFill>
          <a:ln w="10160">
            <a:solidFill>
              <a:srgbClr val="5FE1C0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96112" y="4937760"/>
            <a:ext cx="694944" cy="228600"/>
          </a:xfrm>
          <a:prstGeom prst="roundRect">
            <a:avLst>
              <a:gd name="adj" fmla="val 64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69264" y="4946904"/>
            <a:ext cx="548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70–90s</a:t>
            </a:r>
            <a:endParaRPr lang="en-US" sz="680" dirty="0"/>
          </a:p>
        </p:txBody>
      </p:sp>
      <p:sp>
        <p:nvSpPr>
          <p:cNvPr id="23" name="Text 21"/>
          <p:cNvSpPr txBox="1"/>
          <p:nvPr/>
        </p:nvSpPr>
        <p:spPr>
          <a:xfrm>
            <a:off x="1819656" y="48280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把世界带回个人</a:t>
            </a:r>
            <a:endParaRPr lang="en-US" sz="1140" dirty="0"/>
          </a:p>
        </p:txBody>
      </p:sp>
      <p:sp>
        <p:nvSpPr>
          <p:cNvPr id="24" name="Text 22"/>
          <p:cNvSpPr txBox="1"/>
          <p:nvPr/>
        </p:nvSpPr>
        <p:spPr>
          <a:xfrm>
            <a:off x="3511296" y="4828032"/>
            <a:ext cx="38587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打开资料包或关系场域，指出共同事件仍会继续生长。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092440" y="1810512"/>
            <a:ext cx="3493008" cy="3666744"/>
          </a:xfrm>
          <a:prstGeom prst="roundRect">
            <a:avLst>
              <a:gd name="adj" fmla="val 3141"/>
            </a:avLst>
          </a:prstGeom>
          <a:solidFill>
            <a:srgbClr val="1B2940"/>
          </a:solidFill>
          <a:ln w="10160">
            <a:solidFill>
              <a:srgbClr val="5FE1C0">
                <a:alpha val="55000"/>
              </a:srgbClr>
            </a:solidFill>
            <a:prstDash val="solid"/>
          </a:ln>
        </p:spPr>
      </p:sp>
      <p:pic>
        <p:nvPicPr>
          <p:cNvPr id="26" name="Image 0" descr="EchoWorld Demo 二维码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869680" y="2157984"/>
            <a:ext cx="1938528" cy="1938528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366760" y="428853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演示地址</a:t>
            </a:r>
            <a:endParaRPr lang="en-US" sz="1030" dirty="0"/>
          </a:p>
        </p:txBody>
      </p:sp>
      <p:sp>
        <p:nvSpPr>
          <p:cNvPr id="28" name="Text 25"/>
          <p:cNvSpPr txBox="1"/>
          <p:nvPr/>
        </p:nvSpPr>
        <p:spPr>
          <a:xfrm>
            <a:off x="8366760" y="4663440"/>
            <a:ext cx="2971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https://capture.meetmind.online/echoworld/</a:t>
            </a:r>
            <a:endParaRPr lang="en-US" sz="840" dirty="0"/>
          </a:p>
        </p:txBody>
      </p:sp>
      <p:sp>
        <p:nvSpPr>
          <p:cNvPr id="29" name="Text 26"/>
          <p:cNvSpPr txBox="1"/>
          <p:nvPr/>
        </p:nvSpPr>
        <p:spPr>
          <a:xfrm>
            <a:off x="685800" y="585216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备用：保留第 5 / 8 页截图，网络异常时直接讲关键路径。</a:t>
            </a:r>
            <a:endParaRPr lang="en-US" sz="10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3840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 B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694944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7F8F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评委追问时：已完成与下一步的边界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125272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AB4C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把工程事实讲清楚，比扩大承诺更有说服力。 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5276088" cy="3547872"/>
          </a:xfrm>
          <a:prstGeom prst="roundRect">
            <a:avLst>
              <a:gd name="adj" fmla="val 3093"/>
            </a:avLst>
          </a:prstGeom>
          <a:solidFill>
            <a:srgbClr val="151F33"/>
          </a:solidFill>
          <a:ln w="10160">
            <a:solidFill>
              <a:srgbClr val="5FE1C0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210312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53B39"/>
          </a:solidFill>
          <a:ln w="12700">
            <a:solidFill>
              <a:srgbClr val="153B3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1122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5FE1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现在可演示</a:t>
            </a:r>
            <a:endParaRPr lang="en-US" sz="740" dirty="0"/>
          </a:p>
        </p:txBody>
      </p:sp>
      <p:sp>
        <p:nvSpPr>
          <p:cNvPr id="8" name="Shape 6"/>
          <p:cNvSpPr/>
          <p:nvPr/>
        </p:nvSpPr>
        <p:spPr>
          <a:xfrm>
            <a:off x="978408" y="2788920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34440" y="2688336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五人合照 → 识别 → 确认 → 批量入场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78408" y="3227832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3444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外在数据 + 生理聚合信号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78408" y="3666744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34440" y="356616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市集 / 咖啡厅 / 关系场域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78408" y="4105656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4440" y="4005072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第一印象、破冰、圆桌与世界播报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978408" y="4544568"/>
            <a:ext cx="128016" cy="128016"/>
          </a:xfrm>
          <a:prstGeom prst="ellipse">
            <a:avLst/>
          </a:prstGeom>
          <a:solidFill>
            <a:srgbClr val="5FE1C0"/>
          </a:solidFill>
          <a:ln w="12700">
            <a:solidFill>
              <a:srgbClr val="5FE1C0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234440" y="4443984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 / 推断 / 信号分层与事件架构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21808" cy="3547872"/>
          </a:xfrm>
          <a:prstGeom prst="roundRect">
            <a:avLst>
              <a:gd name="adj" fmla="val 3093"/>
            </a:avLst>
          </a:prstGeom>
          <a:solidFill>
            <a:srgbClr val="151F33"/>
          </a:solidFill>
          <a:ln w="10160">
            <a:solidFill>
              <a:srgbClr val="FF7964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37960" y="2103120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462521"/>
          </a:solidFill>
          <a:ln w="12700">
            <a:solidFill>
              <a:srgbClr val="46252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11112" y="21122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796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下一步打通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6583680" y="2788920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39712" y="2688336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十分钟多人现场走查与网络稳定性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583680" y="3227832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39712" y="3127248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体素人物线上替换后的视觉 QA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583680" y="3666744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839712" y="3566160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生理信号解释与授权提示继续打磨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0" y="4105656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39712" y="4005072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足够数据后验证价值匹配与行动回流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583680" y="4544568"/>
            <a:ext cx="128016" cy="128016"/>
          </a:xfrm>
          <a:prstGeom prst="ellipse">
            <a:avLst/>
          </a:prstGeom>
          <a:solidFill>
            <a:srgbClr val="FF7964"/>
          </a:solidFill>
          <a:ln w="12700">
            <a:solidFill>
              <a:srgbClr val="FF7964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39712" y="4443984"/>
            <a:ext cx="4315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E6EA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隐私授权、被记录者确认与组织权限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234440" y="5733288"/>
            <a:ext cx="9738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BE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不宣称“复制真人”；生理信号表达唤起程度，不等同于喜欢或关系质量。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547104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6F7B90"/>
                </a:solidFill>
                <a:latin typeface="Microsoft YaHei"/>
                <a:ea typeface="Microsoft YaHei"/>
                <a:cs typeface="Microsoft YaHe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EchoWorld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EchoWorld 相遇世界 - 让每一次相遇，继续发生</dc:title>
  <dc:subject>Hackathon pitch deck</dc:subject>
  <dc:creator>EchoWorld Team</dc:creator>
  <cp:lastModifiedBy>EchoWorld Team</cp:lastModifiedBy>
  <cp:revision>1</cp:revision>
  <dcterms:created xsi:type="dcterms:W3CDTF">2026-08-04T09:22:34Z</dcterms:created>
  <dcterms:modified xsi:type="dcterms:W3CDTF">2026-08-04T09:22:34Z</dcterms:modified>
</cp:coreProperties>
</file>